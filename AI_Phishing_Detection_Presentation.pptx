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1E2761"/>
                </a:solidFill>
                <a:latin typeface="Cambria" panose="02040503050406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 panose="02040503050406030204"/>
              </a:rPr>
              <a:t>Model Accuracy Comparison</a:t>
            </a:r>
            <a:endParaRPr sz="1300" b="0" i="0" u="none" strike="noStrike">
              <a:solidFill>
                <a:srgbClr val="1E2761"/>
              </a:solidFill>
              <a:latin typeface="Cambria" panose="02040503050406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B5BA5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1E276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Naïve
Bayes</c:v>
                </c:pt>
                <c:pt idx="2">
                  <c:v>Random
Forest</c:v>
                </c:pt>
                <c:pt idx="3">
                  <c:v>MLP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</c:v>
                </c:pt>
                <c:pt idx="1">
                  <c:v>0.9488</c:v>
                </c:pt>
                <c:pt idx="2">
                  <c:v>0.9573</c:v>
                </c:pt>
                <c:pt idx="3">
                  <c:v>0.9627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E276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9525" cap="flat" cmpd="sng" algn="ctr">
              <a:solidFill>
                <a:srgbClr val="E5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rgbClr val="5B6B8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4a6ea06-b97d-44d3-9e33-74453ea9965b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13232" y="541782"/>
            <a:ext cx="672998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86230" y="541782"/>
            <a:ext cx="630936" cy="321412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710946"/>
            <a:ext cx="252374" cy="558241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5606" y="1269187"/>
            <a:ext cx="694030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9636" y="863194"/>
            <a:ext cx="357530" cy="575158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9636" y="1438351"/>
            <a:ext cx="651967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" y="660654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335938" y="491490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966874" y="812902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915314" y="1218895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1609344" y="1388059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2261311" y="1557223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14" name="Shape 12"/>
          <p:cNvSpPr/>
          <p:nvPr/>
        </p:nvSpPr>
        <p:spPr>
          <a:xfrm flipV="1">
            <a:off x="10775290" y="5022342"/>
            <a:ext cx="672998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4354" y="5022342"/>
            <a:ext cx="630936" cy="321412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5914" y="5191506"/>
            <a:ext cx="252374" cy="558241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01884" y="5749747"/>
            <a:ext cx="694030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4354" y="5343754"/>
            <a:ext cx="357530" cy="575158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49917" y="5918911"/>
            <a:ext cx="651967" cy="169164"/>
          </a:xfrm>
          <a:prstGeom prst="line">
            <a:avLst/>
          </a:prstGeom>
          <a:noFill/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97996" y="5141214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10724998" y="4972050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0094062" y="5293462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1145622" y="5699455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0451592" y="5868619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9799625" y="6037783"/>
            <a:ext cx="100584" cy="100584"/>
          </a:xfrm>
          <a:prstGeom prst="ellipse">
            <a:avLst/>
          </a:prstGeom>
          <a:solidFill>
            <a:srgbClr val="CADCFC">
              <a:alpha val="18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9784080" y="548640"/>
            <a:ext cx="1371600" cy="777240"/>
          </a:xfrm>
          <a:prstGeom prst="rect">
            <a:avLst/>
          </a:prstGeom>
          <a:ln w="15875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548640"/>
            <a:ext cx="1371600" cy="777240"/>
          </a:xfrm>
          <a:prstGeom prst="line">
            <a:avLst/>
          </a:prstGeom>
          <a:noFill/>
          <a:ln w="15875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784080" y="548640"/>
            <a:ext cx="1371600" cy="777240"/>
          </a:xfrm>
          <a:prstGeom prst="line">
            <a:avLst/>
          </a:prstGeom>
          <a:noFill/>
          <a:ln w="15875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5257800"/>
            <a:ext cx="566928" cy="553212"/>
          </a:xfrm>
          <a:prstGeom prst="ellipse">
            <a:avLst/>
          </a:prstGeom>
          <a:ln w="1905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" y="5562067"/>
            <a:ext cx="621792" cy="304267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1" name="Shape 29"/>
          <p:cNvSpPr/>
          <p:nvPr/>
        </p:nvSpPr>
        <p:spPr>
          <a:xfrm>
            <a:off x="685800" y="5710428"/>
            <a:ext cx="914400" cy="553212"/>
          </a:xfrm>
          <a:prstGeom prst="roundRect">
            <a:avLst>
              <a:gd name="adj" fmla="val 8264"/>
            </a:avLst>
          </a:prstGeom>
          <a:ln w="1905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AI-Driven Phishing Email Detection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Natural Language Processing (NLP)</a:t>
            </a:r>
            <a:endParaRPr lang="en-US" sz="3400" dirty="0"/>
          </a:p>
        </p:txBody>
      </p:sp>
      <p:sp>
        <p:nvSpPr>
          <p:cNvPr id="33" name="Shape 31"/>
          <p:cNvSpPr/>
          <p:nvPr/>
        </p:nvSpPr>
        <p:spPr>
          <a:xfrm>
            <a:off x="5455768" y="4023360"/>
            <a:ext cx="1280160" cy="2194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43400"/>
            <a:ext cx="10545775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Preethika
</a:t>
            </a: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Enrollment Number: 937271
Department of Information Science and Engineering
</a:t>
            </a:r>
            <a:r>
              <a:rPr lang="en-US" sz="15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NMAM Institute of Technology (NMAMIT), Nitte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48614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861408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is a widely used communication channel, increasingly targeted by phishing attacks aiming to steal sensitive information.</a:t>
            </a:r>
            <a:endParaRPr lang="en-US" sz="1400" dirty="0"/>
          </a:p>
          <a:p>
            <a:pPr marL="342900" indent="-3429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rule-based filters and blacklists struggle against constantly evolving phishing techniques.</a:t>
            </a:r>
            <a:endParaRPr lang="en-US" sz="1400" dirty="0"/>
          </a:p>
          <a:p>
            <a:pPr marL="342900" indent="-3429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uses NLP and Machine Learning to automatically classify emails as Safe or Phishing.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8" y="123444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3048" y="1417320"/>
            <a:ext cx="48614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53048" y="1874520"/>
            <a:ext cx="4861408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and blacklist approaches are ineffective against sophisticated, constantly changing phishing attacks.</a:t>
            </a:r>
            <a:endParaRPr lang="en-US" sz="1400" dirty="0"/>
          </a:p>
          <a:p>
            <a:pPr marL="342900" indent="-3429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intelligent system is required to analyze email content and accurately classify phishing vs. legitimate emails.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53048" y="3703320"/>
            <a:ext cx="4861408" cy="18288"/>
          </a:xfrm>
          <a:prstGeom prst="rect">
            <a:avLst/>
          </a:prstGeom>
          <a:solidFill>
            <a:srgbClr val="6C87C4"/>
          </a:solidFill>
          <a:ln w="12700">
            <a:solidFill>
              <a:srgbClr val="6C8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3048" y="3840480"/>
            <a:ext cx="486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048" y="4251960"/>
            <a:ext cx="4861408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AI-driven system that preprocesses email text, extracts TF-IDF features, trains multiple ML models, and provides real-time phishing prediction through a Gradio interface.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46808" y="1078992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75408" y="1078992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Collection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48" y="1600200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346808" y="1709928"/>
            <a:ext cx="7498080" cy="868680"/>
          </a:xfrm>
          <a:prstGeom prst="roundRect">
            <a:avLst>
              <a:gd name="adj" fmla="val 6316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5408" y="176479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Preprocessing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75408" y="2075688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Lowercase Conversion  •  HTML Tag Removal  •  URL Removal  •  Punctuation Removal  •  Stopword Removal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5848" y="2596896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46808" y="2706624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5408" y="2706624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TF-IDF Feature Extraction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48" y="3227832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46808" y="3337560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5408" y="33375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Train-Test Split (80:20)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5848" y="3858768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46808" y="3968496"/>
            <a:ext cx="74980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5408" y="4023360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Machine Learning Models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75408" y="4334256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  •   Naïve Bayes   •   Random Forest   •   MLP Neural Network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5848" y="4764024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46808" y="4873752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5408" y="4873752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5848" y="5394960"/>
            <a:ext cx="0" cy="9144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46808" y="5504688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5408" y="5504688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Gradio Prediction Module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Algorithms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64328" cy="987552"/>
          </a:xfrm>
          <a:prstGeom prst="roundRect">
            <a:avLst>
              <a:gd name="adj" fmla="val 6481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49071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490712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supervised learning algorithm for binary classification; simple, efficient, and effective for text classification problems.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78728" y="1097280"/>
            <a:ext cx="5364328" cy="987552"/>
          </a:xfrm>
          <a:prstGeom prst="roundRect">
            <a:avLst>
              <a:gd name="adj" fmla="val 6481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7328" y="1188720"/>
            <a:ext cx="49071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Naïve Bayes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07328" y="1517904"/>
            <a:ext cx="490712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probabilistic classifier based on Bayes' theorem, known for fast training and prediction speed.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364328" cy="987552"/>
          </a:xfrm>
          <a:prstGeom prst="roundRect">
            <a:avLst>
              <a:gd name="adj" fmla="val 6481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59152"/>
            <a:ext cx="49071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688336"/>
            <a:ext cx="490712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ensemble algorithm combining multiple decision trees; robust against overfitting on complex datasets.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267712"/>
            <a:ext cx="5364328" cy="987552"/>
          </a:xfrm>
          <a:prstGeom prst="roundRect">
            <a:avLst>
              <a:gd name="adj" fmla="val 6481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2359152"/>
            <a:ext cx="49071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MLP Neural Network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7328" y="2688336"/>
            <a:ext cx="490712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feed-forward neural network that learns complex relationships from TF-IDF features; achieved the best performance.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3621024"/>
          <a:ext cx="11094415" cy="1965960"/>
        </p:xfrm>
        <a:graphic>
          <a:graphicData uri="http://schemas.openxmlformats.org/drawingml/2006/table">
            <a:tbl>
              <a:tblPr/>
              <a:tblGrid>
                <a:gridCol w="2834640"/>
                <a:gridCol w="3108960"/>
                <a:gridCol w="5150815"/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Algorithm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Supervised – Linear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Binary classification of email messages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Naïve Bayes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Supervised – Probabilistic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 text classification using Bayes' theorem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Supervised – Ensemble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Robust classification using multiple decision trees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MLP Neural Network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Supervised – Neural Network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Learns complex patterns; best-performing model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Performance Comparison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02920" y="1051560"/>
          <a:ext cx="53949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172200" y="1051560"/>
            <a:ext cx="5470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Matrix — MLP Neural Network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172200" y="1444752"/>
          <a:ext cx="5470855" cy="141732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Pred: Legitimate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Pred: Phishing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Actual: Legitimate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2179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Actual: Phishing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53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1409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3063240"/>
            <a:ext cx="5470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 Metrics (Weighted Average)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172200" y="3429000"/>
          <a:ext cx="5989320" cy="141732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1051560"/>
                <a:gridCol w="914400"/>
                <a:gridCol w="1188720"/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Logistic Regression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Naïve Bayes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0.9488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0.9573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MLP Neural Network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0.9627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02920" y="42519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77240" y="43891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Best-Performing Model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77240" y="46817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MLP Neural Network</a:t>
            </a:r>
            <a:endParaRPr lang="en-US" sz="2200" dirty="0"/>
          </a:p>
        </p:txBody>
      </p:sp>
      <p:sp>
        <p:nvSpPr>
          <p:cNvPr id="7" name="Text 6"/>
          <p:cNvSpPr/>
          <p:nvPr/>
        </p:nvSpPr>
        <p:spPr>
          <a:xfrm>
            <a:off x="777240" y="5166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classification accuracy: 96.27%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— Gradio Prediction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554148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25541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 Email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30220" y="1165860"/>
            <a:ext cx="237744" cy="0"/>
          </a:xfrm>
          <a:prstGeom prst="line">
            <a:avLst/>
          </a:prstGeom>
          <a:noFill/>
          <a:ln w="25400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95396" y="868680"/>
            <a:ext cx="2554148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5396" y="868680"/>
            <a:ext cx="25541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76976" y="1165860"/>
            <a:ext cx="237744" cy="0"/>
          </a:xfrm>
          <a:prstGeom prst="line">
            <a:avLst/>
          </a:prstGeom>
          <a:noFill/>
          <a:ln w="25400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42152" y="868680"/>
            <a:ext cx="2554148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2152" y="868680"/>
            <a:ext cx="25541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23731" y="1165860"/>
            <a:ext cx="237744" cy="0"/>
          </a:xfrm>
          <a:prstGeom prst="line">
            <a:avLst/>
          </a:prstGeom>
          <a:noFill/>
          <a:ln w="25400">
            <a:solidFill>
              <a:srgbClr val="3B5B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88907" y="868680"/>
            <a:ext cx="2554148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8907" y="868680"/>
            <a:ext cx="255414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15544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email text is cleaned using the same preprocessing pipeline as training, converted to TF-IDF features, and classified by the trained MLP model in real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738716" y="1847088"/>
            <a:ext cx="8714263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6" name="Image 0" descr="/home/claude/gradio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868" y="1920240"/>
            <a:ext cx="8567959" cy="40599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071616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Gradio interface classifying a submitted email as a Phishing Email in real time.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64328" cy="5257800"/>
          </a:xfrm>
          <a:prstGeom prst="roundRect">
            <a:avLst>
              <a:gd name="adj" fmla="val 1391"/>
            </a:avLst>
          </a:prstGeom>
          <a:solidFill>
            <a:srgbClr val="E9EFFB"/>
          </a:solidFill>
          <a:ln w="12700">
            <a:solidFill>
              <a:srgbClr val="E9EF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0160"/>
            <a:ext cx="49071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907128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presented an AI-driven phishing email detection system using Natural Language Processing and Machine Learning. Email text was preprocessed and transformed into TF-IDF features, then used to train four supervised models: Logistic Regression, Naïve Bayes, Random Forest, and MLP Neural Network. A Gradio-based interface was developed to classify email messages as Safe or Phishing in real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49071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4907128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Neural Network achieved the highest classification accuracy of 96.27%.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ML models were trained, evaluated, and compared using accuracy, precision, recall, F1-score, and confusion matrix.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Gradio-based interface was built for real-time email classification.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097280"/>
            <a:ext cx="5364328" cy="5257800"/>
          </a:xfrm>
          <a:prstGeom prst="roundRect">
            <a:avLst>
              <a:gd name="adj" fmla="val 13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1280160"/>
            <a:ext cx="49071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1783080"/>
            <a:ext cx="4907128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advanced deep learning models such as LSTM, GRU, and BERT for improved phishing detection.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the system to support multilingual phishing email detection.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the model with email services or browser extensions for real-time protection.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Continuously retrain the model using newly collected phishing emails to improve accuracy.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model as a cloud-based web application for wider accessibility.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4403</Words>
  <Application>WPS Presentation</Application>
  <PresentationFormat>On-screen Show (16:9)</PresentationFormat>
  <Paragraphs>226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Preethika Preethika</cp:lastModifiedBy>
  <cp:revision>2</cp:revision>
  <dcterms:created xsi:type="dcterms:W3CDTF">2026-07-23T05:25:00Z</dcterms:created>
  <dcterms:modified xsi:type="dcterms:W3CDTF">2026-07-23T06:06:04Z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3060F6B539A44764B79737B27E3D42CB_12</vt:lpwstr>
  </property>
  <property fmtid="{D5CDD505-2E9C-101B-9397-08002B2CF9AE}" pid="3" name="KSOProductBuildVer">
    <vt:lpwstr>2057-12.2.0.23206</vt:lpwstr>
  </property>
</Properties>
</file>